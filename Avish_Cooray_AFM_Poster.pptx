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4"/>
  </p:sldMasterIdLst>
  <p:sldIdLst>
    <p:sldId id="256" r:id="rId5"/>
  </p:sldIdLst>
  <p:sldSz cx="43891200" cy="329184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1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18890-B8C5-8746-BB21-D642694B86B8}" v="317" dt="2026-07-21T19:48:23.161"/>
    <p1510:client id="{DFC80CF0-276E-D634-6DC1-1E4C582312D2}" v="22" dt="2026-07-21T20:14:20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1637" y="9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FCE4-6B81-8F7B-5F64-1178F7AC7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94C02-2C89-4EB3-22EA-BFEA775CD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B225C-2633-54BA-6E1F-DE3F50F5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9F3D-972D-3B38-7EB3-33F93C4E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FB67B-4222-2EE6-FE78-098AC97D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8B20-F935-370B-9E8F-5D09D85B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1678-EF31-4156-0850-55AD817A9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1C214-85CE-76B8-D488-0D516B35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1BD85-56A0-0E2A-C2C5-4510369A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1B725-8F24-6E01-A6F7-DF040A12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92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B2D2-72F3-73EC-28CF-12402234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160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B64F-CEFD-1CBF-0E08-93B55CE86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A1DFD-3459-1008-CF92-08C747D6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411AE-5ABE-D781-3AFC-AE573F70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88E5F-FBF3-474A-F01B-6C3C8151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5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B01A-17B0-453D-F26B-51EA5847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D5A9-0ADC-E80A-C519-59BCBD9DF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F729B-BFC8-5C05-28A0-4DDA88831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E6C78-2D48-F73D-9D5A-4C60C08A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606D3-13DD-7849-9C88-DC4D9A7E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66024-D794-DD7F-0DCB-FA3646AD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2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665E-3097-F8E7-E486-E06F58AE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250AD-0B96-7871-24B0-E6076E4F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8A237-71FD-AB8E-47DE-2720480C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CC6D8-402A-033B-F4FB-69B5A164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1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E6A2B4FB-49D3-DE0E-CD29-196EB96F8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936" y="29736716"/>
            <a:ext cx="1629918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53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902E6-26C2-F512-57F4-D307A690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36A42-DA76-7D97-6789-19FA67D53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5479-F33C-D033-A331-5770EBBD5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defTabSz="4389120"/>
            <a:fld id="{34CBF9A7-248E-40A8-A478-1FE7903E7951}" type="datetimeFigureOut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7/27/2026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ADB76-2325-AA44-0CD7-F208C200A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defTabSz="4389120"/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53895-EE3B-93EF-24E4-82E2B5420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defTabSz="4389120"/>
            <a:fld id="{F5F2DD67-9448-4D83-AAD2-AA55AF1A5E5D}" type="slidenum">
              <a:rPr lang="en-US" smtClean="0">
                <a:solidFill>
                  <a:prstClr val="black">
                    <a:tint val="82000"/>
                  </a:prstClr>
                </a:solidFill>
                <a:latin typeface="Times" charset="0"/>
                <a:ea typeface="ＭＳ Ｐゴシック" charset="0"/>
              </a:rPr>
              <a:pPr defTabSz="438912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latin typeface="Times" charset="0"/>
              <a:ea typeface="ＭＳ Ｐゴシック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9F8E8-3C9B-6B86-A280-C78B1E91D36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7775" y="29416232"/>
            <a:ext cx="10295425" cy="3704214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1D949C01-441A-4D9F-B35C-39925333CDE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936" y="29736716"/>
            <a:ext cx="1629918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538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b="1" kern="1200">
          <a:solidFill>
            <a:srgbClr val="C0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b="1" kern="1200">
          <a:solidFill>
            <a:srgbClr val="C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hyperlink" Target="https://doc.cgal.org/latest/Minkowski_sum_3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hyperlink" Target="https://doi.org/10.2478/s11534-011-0096-2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doi.org/10.6028/jres.102.030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14"/>
          <p:cNvSpPr txBox="1">
            <a:spLocks noChangeArrowheads="1"/>
          </p:cNvSpPr>
          <p:nvPr/>
        </p:nvSpPr>
        <p:spPr bwMode="auto">
          <a:xfrm>
            <a:off x="685800" y="4175125"/>
            <a:ext cx="9601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Project Motivation and Objectives</a:t>
            </a:r>
          </a:p>
        </p:txBody>
      </p:sp>
      <p:sp>
        <p:nvSpPr>
          <p:cNvPr id="13317" name="Line 15"/>
          <p:cNvSpPr>
            <a:spLocks noChangeShapeType="1"/>
          </p:cNvSpPr>
          <p:nvPr/>
        </p:nvSpPr>
        <p:spPr bwMode="auto">
          <a:xfrm flipV="1">
            <a:off x="10104698" y="4556125"/>
            <a:ext cx="715701" cy="16086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Text Box 16"/>
          <p:cNvSpPr txBox="1">
            <a:spLocks noChangeArrowheads="1"/>
          </p:cNvSpPr>
          <p:nvPr/>
        </p:nvSpPr>
        <p:spPr bwMode="auto">
          <a:xfrm>
            <a:off x="914400" y="5029200"/>
            <a:ext cx="9906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93725" indent="-593725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1371600" indent="-457200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Wingdings" charset="2"/>
              <a:buChar char="q"/>
            </a:pPr>
            <a:r>
              <a:rPr lang="en-US" sz="3000" b="1" dirty="0">
                <a:solidFill>
                  <a:schemeClr val="accent2"/>
                </a:solidFill>
              </a:rPr>
              <a:t>Atomic force microscopy (AFM) maps surface topography by scanning a sharp tip across a sample.</a:t>
            </a:r>
          </a:p>
          <a:p>
            <a:pPr lvl="1" algn="just" eaLnBrk="1" hangingPunct="1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The recorded image mixes sample geometry with tip geometry - tip effects are easy to underestimate and hard to visualize.</a:t>
            </a:r>
            <a:endParaRPr lang="en-US" sz="2800" b="1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Wingdings" charset="2"/>
              <a:buChar char="q"/>
            </a:pPr>
            <a:r>
              <a:rPr lang="en-US" sz="3000" b="1" dirty="0">
                <a:solidFill>
                  <a:schemeClr val="accent2"/>
                </a:solidFill>
              </a:rPr>
              <a:t>Build an interactive browser-based forward simulator of tip-sample interactions via morphological operations.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M</a:t>
            </a:r>
            <a:r>
              <a:rPr sz="2800" dirty="0"/>
              <a:t>ake tip-induced artifacts (broadening, rounding, double-tip ghosts) immediately visible</a:t>
            </a:r>
            <a:r>
              <a:rPr lang="en-US" sz="2800" dirty="0"/>
              <a:t>.</a:t>
            </a:r>
            <a:endParaRPr sz="2800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S</a:t>
            </a:r>
            <a:r>
              <a:rPr sz="2800" dirty="0"/>
              <a:t>upport reproducible export and a path toward later inverse / ML reconstruction work.</a:t>
            </a:r>
          </a:p>
        </p:txBody>
      </p:sp>
      <p:sp>
        <p:nvSpPr>
          <p:cNvPr id="13322" name="Text Box 20"/>
          <p:cNvSpPr txBox="1">
            <a:spLocks noChangeArrowheads="1"/>
          </p:cNvSpPr>
          <p:nvPr/>
        </p:nvSpPr>
        <p:spPr bwMode="auto">
          <a:xfrm>
            <a:off x="838200" y="18444264"/>
            <a:ext cx="652389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Methods</a:t>
            </a:r>
            <a:r>
              <a:rPr lang="en-US" sz="4000" b="1" i="1" dirty="0"/>
              <a:t> and Approach</a:t>
            </a:r>
          </a:p>
        </p:txBody>
      </p:sp>
      <p:sp>
        <p:nvSpPr>
          <p:cNvPr id="13323" name="Line 21"/>
          <p:cNvSpPr>
            <a:spLocks noChangeShapeType="1"/>
          </p:cNvSpPr>
          <p:nvPr/>
        </p:nvSpPr>
        <p:spPr bwMode="auto">
          <a:xfrm>
            <a:off x="7174523" y="18840654"/>
            <a:ext cx="3722077" cy="2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Text Box 22"/>
          <p:cNvSpPr txBox="1">
            <a:spLocks noChangeArrowheads="1"/>
          </p:cNvSpPr>
          <p:nvPr/>
        </p:nvSpPr>
        <p:spPr bwMode="auto">
          <a:xfrm>
            <a:off x="914400" y="19278341"/>
            <a:ext cx="9906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mc="http://schemas.openxmlformats.org/markup-compatibility/2006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mc="http://schemas.openxmlformats.org/markup-compatibility/2006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93725" indent="-593725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1371600" indent="-457200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sz="2800" b="1" dirty="0">
                <a:solidFill>
                  <a:schemeClr val="accent2"/>
                </a:solidFill>
              </a:rPr>
              <a:t>Forward Model:</a:t>
            </a:r>
            <a:endParaRPr lang="en-US" sz="2800" dirty="0">
              <a:solidFill>
                <a:schemeClr val="accent2"/>
              </a:solidFill>
            </a:endParaRPr>
          </a:p>
          <a:p>
            <a:pPr lvl="2"/>
            <a:r>
              <a:rPr lang="en-US" sz="2800" dirty="0"/>
              <a:t>Contact-mode height-field simulation via Minkowski operations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b="1" dirty="0">
                <a:solidFill>
                  <a:schemeClr val="accent2"/>
                </a:solidFill>
              </a:rPr>
              <a:t>Dilation:</a:t>
            </a:r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>
                <a:solidFill>
                  <a:schemeClr val="accent2"/>
                </a:solidFill>
              </a:rPr>
              <a:t>Erosion </a:t>
            </a:r>
          </a:p>
          <a:p>
            <a:r>
              <a:rPr lang="en-US" sz="3200" dirty="0"/>
              <a:t>(concave </a:t>
            </a:r>
          </a:p>
          <a:p>
            <a:r>
              <a:rPr lang="en-US" sz="3200" dirty="0"/>
              <a:t>tips): 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>
                <a:solidFill>
                  <a:schemeClr val="accent2"/>
                </a:solidFill>
              </a:rPr>
              <a:t>Workflow</a:t>
            </a:r>
            <a:r>
              <a:rPr lang="en-US" sz="2800" b="1" dirty="0"/>
              <a:t>: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Select or import tip geometry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Select or import sample surface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Compute measured height map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Compare true vs measured vs error</a:t>
            </a:r>
          </a:p>
          <a:p>
            <a:pPr>
              <a:buFont typeface="+mj-lt"/>
              <a:buAutoNum type="arabicPeriod"/>
            </a:pPr>
            <a:endParaRPr lang="en-US" sz="2800" dirty="0"/>
          </a:p>
          <a:p>
            <a:r>
              <a:rPr lang="en-US" sz="2800" b="1" dirty="0">
                <a:solidFill>
                  <a:schemeClr val="accent2"/>
                </a:solidFill>
              </a:rPr>
              <a:t>Custom Geometry:</a:t>
            </a:r>
            <a:endParaRPr lang="en-US" sz="28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Import .OBJ meshes for arbitrary tip/surface shapes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Rasterized to discrete grid for physics computation</a:t>
            </a:r>
          </a:p>
        </p:txBody>
      </p:sp>
      <p:sp>
        <p:nvSpPr>
          <p:cNvPr id="13325" name="Text Box 23"/>
          <p:cNvSpPr txBox="1">
            <a:spLocks noChangeArrowheads="1"/>
          </p:cNvSpPr>
          <p:nvPr/>
        </p:nvSpPr>
        <p:spPr bwMode="auto">
          <a:xfrm>
            <a:off x="14192250" y="4175124"/>
            <a:ext cx="777413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Results and Discussion</a:t>
            </a:r>
          </a:p>
        </p:txBody>
      </p:sp>
      <p:sp>
        <p:nvSpPr>
          <p:cNvPr id="13326" name="Line 24"/>
          <p:cNvSpPr>
            <a:spLocks noChangeShapeType="1"/>
          </p:cNvSpPr>
          <p:nvPr/>
        </p:nvSpPr>
        <p:spPr bwMode="auto">
          <a:xfrm flipV="1">
            <a:off x="21319958" y="4525961"/>
            <a:ext cx="4925112" cy="46250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Picture 41" descr="Figure 2"/>
          <p:cNvSpPr>
            <a:spLocks noChangeAspect="1" noChangeArrowheads="1"/>
          </p:cNvSpPr>
          <p:nvPr/>
        </p:nvSpPr>
        <p:spPr bwMode="auto">
          <a:xfrm>
            <a:off x="6634163" y="22697924"/>
            <a:ext cx="3881437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7" name="Rectangle 63"/>
          <p:cNvSpPr>
            <a:spLocks noChangeArrowheads="1"/>
          </p:cNvSpPr>
          <p:nvPr/>
        </p:nvSpPr>
        <p:spPr bwMode="auto">
          <a:xfrm>
            <a:off x="6553200" y="685800"/>
            <a:ext cx="32537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38858" tIns="219429" rIns="438858" bIns="219429" anchor="ctr"/>
          <a:lstStyle/>
          <a:p>
            <a:pPr algn="ctr" defTabSz="4389438"/>
            <a:r>
              <a:rPr lang="en-US" sz="4800" b="1" dirty="0">
                <a:latin typeface="Arial"/>
                <a:ea typeface="ＭＳ Ｐゴシック"/>
                <a:cs typeface="Times New Roman"/>
              </a:rPr>
              <a:t>Visualizing AFM Tip-Sample Artifacts with a Browser-Based Forward Model</a:t>
            </a:r>
            <a:endParaRPr lang="en-US" sz="4400" b="1" dirty="0">
              <a:latin typeface="Arial"/>
              <a:ea typeface="ＭＳ Ｐゴシック"/>
              <a:cs typeface="Times New Roman" charset="0"/>
            </a:endParaRPr>
          </a:p>
          <a:p>
            <a:pPr algn="ctr" defTabSz="4389438"/>
            <a:endParaRPr lang="en-US" sz="4400" b="1" dirty="0">
              <a:cs typeface="Times New Roman" charset="0"/>
            </a:endParaRPr>
          </a:p>
          <a:p>
            <a:pPr algn="ctr"/>
            <a:r>
              <a:rPr sz="4000" b="1" dirty="0"/>
              <a:t>Avish Cooray, </a:t>
            </a:r>
            <a:r>
              <a:rPr lang="en-US" sz="4000" b="1" dirty="0"/>
              <a:t>Soumik Sarkar, Adarsh Krishnamurthy, Alloy Das</a:t>
            </a:r>
          </a:p>
          <a:p>
            <a:pPr algn="ctr"/>
            <a:r>
              <a:rPr lang="en-US" sz="4000" b="1" dirty="0"/>
              <a:t>Iowa State University</a:t>
            </a:r>
          </a:p>
        </p:txBody>
      </p:sp>
      <p:sp>
        <p:nvSpPr>
          <p:cNvPr id="60" name="Text Box 26"/>
          <p:cNvSpPr txBox="1">
            <a:spLocks noChangeArrowheads="1"/>
          </p:cNvSpPr>
          <p:nvPr/>
        </p:nvSpPr>
        <p:spPr bwMode="auto">
          <a:xfrm>
            <a:off x="35603454" y="4138468"/>
            <a:ext cx="6705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Simulator Controls and Features</a:t>
            </a:r>
          </a:p>
        </p:txBody>
      </p:sp>
      <p:sp>
        <p:nvSpPr>
          <p:cNvPr id="61" name="Line 27"/>
          <p:cNvSpPr>
            <a:spLocks noChangeShapeType="1"/>
          </p:cNvSpPr>
          <p:nvPr/>
        </p:nvSpPr>
        <p:spPr bwMode="auto">
          <a:xfrm flipV="1">
            <a:off x="38450520" y="5222632"/>
            <a:ext cx="4948314" cy="0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38">
            <a:extLst>
              <a:ext uri="{FF2B5EF4-FFF2-40B4-BE49-F238E27FC236}">
                <a16:creationId xmlns:a16="http://schemas.microsoft.com/office/drawing/2014/main" id="{1AA17C6F-F496-9DF5-BAF3-8DEC6170A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9680" y="24091568"/>
            <a:ext cx="5791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Acknowledgements </a:t>
            </a:r>
          </a:p>
        </p:txBody>
      </p:sp>
      <p:sp>
        <p:nvSpPr>
          <p:cNvPr id="3" name="Line 39">
            <a:extLst>
              <a:ext uri="{FF2B5EF4-FFF2-40B4-BE49-F238E27FC236}">
                <a16:creationId xmlns:a16="http://schemas.microsoft.com/office/drawing/2014/main" id="{6546039E-A07F-CDC8-0CE5-FCA06DE0F3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30880" y="24529556"/>
            <a:ext cx="2067954" cy="1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25">
            <a:extLst>
              <a:ext uri="{FF2B5EF4-FFF2-40B4-BE49-F238E27FC236}">
                <a16:creationId xmlns:a16="http://schemas.microsoft.com/office/drawing/2014/main" id="{EFF210BA-2F73-66D4-ABB9-B5557699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83187" y="25122294"/>
            <a:ext cx="7859154" cy="3388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93725" indent="-593725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1371600" indent="-457200" defTabSz="4389438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Wingdings" charset="2"/>
              <a:buChar char="q"/>
            </a:pPr>
            <a:r>
              <a:rPr lang="en-US" sz="2800" dirty="0"/>
              <a:t>I would like to thank Dr. Soumik Sarkar, Principal Investigator of the Translational AI Center, for project guidance and mentorship; Dr. Adarsh Krishnamurthy for technical direction and feedback; and Alloy Das for close mentorship and support throughout this work.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Wingdings" charset="2"/>
              <a:buChar char="q"/>
            </a:pPr>
            <a:r>
              <a:rPr lang="en-US" sz="2800" dirty="0"/>
              <a:t>Partial funding for this work was provided by a grant from the National Science Foundation (CISE 2447479).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E938D-D3DC-7318-B9A5-3ABE1DB7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482"/>
          <a:stretch>
            <a:fillRect/>
          </a:stretch>
        </p:blipFill>
        <p:spPr>
          <a:xfrm>
            <a:off x="685800" y="10960013"/>
            <a:ext cx="10134600" cy="70854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B4728F-F2F2-4947-CA6E-5E4BCAB0695C}"/>
              </a:ext>
            </a:extLst>
          </p:cNvPr>
          <p:cNvSpPr/>
          <p:nvPr/>
        </p:nvSpPr>
        <p:spPr>
          <a:xfrm>
            <a:off x="2895600" y="21129715"/>
            <a:ext cx="7924800" cy="1174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93689-F75F-5B26-A81D-409A111E6AC8}"/>
              </a:ext>
            </a:extLst>
          </p:cNvPr>
          <p:cNvSpPr txBox="1"/>
          <p:nvPr/>
        </p:nvSpPr>
        <p:spPr>
          <a:xfrm>
            <a:off x="3173070" y="21436362"/>
            <a:ext cx="7261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M[</a:t>
            </a:r>
            <a:r>
              <a:rPr lang="en-US" sz="3200" b="1" dirty="0" err="1"/>
              <a:t>i</a:t>
            </a:r>
            <a:r>
              <a:rPr lang="en-US" sz="3200" b="1" dirty="0"/>
              <a:t>] = </a:t>
            </a:r>
            <a:r>
              <a:rPr lang="en-US" sz="3200" b="1" dirty="0" err="1"/>
              <a:t>max_j</a:t>
            </a:r>
            <a:r>
              <a:rPr lang="en-US" sz="3200" b="1" dirty="0"/>
              <a:t> { S[</a:t>
            </a:r>
            <a:r>
              <a:rPr lang="en-US" sz="3200" b="1" dirty="0" err="1"/>
              <a:t>i+j</a:t>
            </a:r>
            <a:r>
              <a:rPr lang="en-US" sz="3200" b="1" dirty="0"/>
              <a:t>] - T[j] 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92A70-FAF7-76BE-D5DD-01E7D92BDC7A}"/>
              </a:ext>
            </a:extLst>
          </p:cNvPr>
          <p:cNvSpPr/>
          <p:nvPr/>
        </p:nvSpPr>
        <p:spPr>
          <a:xfrm>
            <a:off x="2895600" y="22993539"/>
            <a:ext cx="7924800" cy="1174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3559C6-A545-ED17-A26B-3F40035E7821}"/>
              </a:ext>
            </a:extLst>
          </p:cNvPr>
          <p:cNvSpPr txBox="1"/>
          <p:nvPr/>
        </p:nvSpPr>
        <p:spPr>
          <a:xfrm>
            <a:off x="3173070" y="23300186"/>
            <a:ext cx="72618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M[</a:t>
            </a:r>
            <a:r>
              <a:rPr lang="en-US" sz="3000" b="1" dirty="0" err="1"/>
              <a:t>i</a:t>
            </a:r>
            <a:r>
              <a:rPr lang="en-US" sz="3000" b="1" dirty="0"/>
              <a:t>] = </a:t>
            </a:r>
            <a:r>
              <a:rPr lang="en-US" sz="3000" b="1" dirty="0" err="1"/>
              <a:t>min_j</a:t>
            </a:r>
            <a:r>
              <a:rPr lang="en-US" sz="3000" b="1" dirty="0"/>
              <a:t> { S[</a:t>
            </a:r>
            <a:r>
              <a:rPr lang="en-US" sz="3000" b="1" dirty="0" err="1"/>
              <a:t>i+j</a:t>
            </a:r>
            <a:r>
              <a:rPr lang="en-US" sz="3000" b="1" dirty="0"/>
              <a:t>] + T[j] }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7097F6-6297-F1BF-FFC4-CEDEE673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7" r="10803"/>
          <a:stretch>
            <a:fillRect/>
          </a:stretch>
        </p:blipFill>
        <p:spPr>
          <a:xfrm>
            <a:off x="14384995" y="6627016"/>
            <a:ext cx="5663860" cy="48924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79F689-F65B-07FC-4A7C-82FCF43425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9" b="1735"/>
          <a:stretch>
            <a:fillRect/>
          </a:stretch>
        </p:blipFill>
        <p:spPr>
          <a:xfrm>
            <a:off x="20179885" y="6627017"/>
            <a:ext cx="5663861" cy="48924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2D4AF5-F068-D581-9C38-2B4826FDBF90}"/>
              </a:ext>
            </a:extLst>
          </p:cNvPr>
          <p:cNvSpPr txBox="1"/>
          <p:nvPr/>
        </p:nvSpPr>
        <p:spPr>
          <a:xfrm>
            <a:off x="14344650" y="12069595"/>
            <a:ext cx="115553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accent2"/>
                </a:solidFill>
              </a:rPr>
              <a:t>2D Line-Scan Simulator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F2026-8C7E-13AA-3332-7A12C5538B5B}"/>
              </a:ext>
            </a:extLst>
          </p:cNvPr>
          <p:cNvSpPr txBox="1"/>
          <p:nvPr/>
        </p:nvSpPr>
        <p:spPr>
          <a:xfrm>
            <a:off x="14958646" y="5909538"/>
            <a:ext cx="4407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True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ABA38A-EABD-8271-CBF8-1B676FFBC4DF}"/>
              </a:ext>
            </a:extLst>
          </p:cNvPr>
          <p:cNvSpPr txBox="1"/>
          <p:nvPr/>
        </p:nvSpPr>
        <p:spPr>
          <a:xfrm>
            <a:off x="20807876" y="5946524"/>
            <a:ext cx="4407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Measured image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6686E44-068F-EE6D-646D-1EA1843A3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83610" y="13685585"/>
            <a:ext cx="5660136" cy="46457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9CC2C9-1479-7CC6-7F7C-DC74377FA7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45" r="8476"/>
          <a:stretch>
            <a:fillRect/>
          </a:stretch>
        </p:blipFill>
        <p:spPr>
          <a:xfrm>
            <a:off x="14388719" y="13695459"/>
            <a:ext cx="5660136" cy="466375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982DE5-3BB0-5B4B-6892-25BE1F3BA37A}"/>
              </a:ext>
            </a:extLst>
          </p:cNvPr>
          <p:cNvSpPr txBox="1"/>
          <p:nvPr/>
        </p:nvSpPr>
        <p:spPr>
          <a:xfrm>
            <a:off x="14344650" y="5224337"/>
            <a:ext cx="115553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accent2"/>
                </a:solidFill>
              </a:rPr>
              <a:t>3D Raster-Scan Simulator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1AB5E5-0A68-95A1-F4F7-5305239BB016}"/>
              </a:ext>
            </a:extLst>
          </p:cNvPr>
          <p:cNvSpPr txBox="1"/>
          <p:nvPr/>
        </p:nvSpPr>
        <p:spPr>
          <a:xfrm>
            <a:off x="14958646" y="12859860"/>
            <a:ext cx="4407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True image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6B7727-45B4-814D-B781-A25A0B78B13D}"/>
              </a:ext>
            </a:extLst>
          </p:cNvPr>
          <p:cNvSpPr txBox="1"/>
          <p:nvPr/>
        </p:nvSpPr>
        <p:spPr>
          <a:xfrm>
            <a:off x="20807876" y="12896846"/>
            <a:ext cx="4407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Measured image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DA636C-A799-5F41-5160-1A55316B0DA2}"/>
              </a:ext>
            </a:extLst>
          </p:cNvPr>
          <p:cNvSpPr txBox="1"/>
          <p:nvPr/>
        </p:nvSpPr>
        <p:spPr>
          <a:xfrm>
            <a:off x="14384994" y="18762736"/>
            <a:ext cx="118600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Interactive, browser-based, zero-install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Real-time parameter adjustment: tip shape, surface geometry, noise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Side-by-side true surface vs. measured image vs. per-pixel error map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Import/export: .OBJ meshes, CSV height maps, 16-bit PNG, JSON parameters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Python forward model (afm_forward_model.py) for batch simulation and validation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E26F4C7-1F99-374A-90E3-3A27B181C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73884" y="4879551"/>
            <a:ext cx="6529345" cy="17144663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5852EF8-6AEF-7D4F-C495-A9D8A30343A6}"/>
              </a:ext>
            </a:extLst>
          </p:cNvPr>
          <p:cNvSpPr/>
          <p:nvPr/>
        </p:nvSpPr>
        <p:spPr>
          <a:xfrm>
            <a:off x="16695976" y="30113390"/>
            <a:ext cx="6377354" cy="15415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54C854-3BED-F16D-6897-2413B87E5C0C}"/>
              </a:ext>
            </a:extLst>
          </p:cNvPr>
          <p:cNvSpPr txBox="1"/>
          <p:nvPr/>
        </p:nvSpPr>
        <p:spPr>
          <a:xfrm>
            <a:off x="17112146" y="30412329"/>
            <a:ext cx="55801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Ask for Demo!</a:t>
            </a:r>
          </a:p>
          <a:p>
            <a:endParaRPr lang="en-US" sz="6000" dirty="0"/>
          </a:p>
        </p:txBody>
      </p:sp>
      <p:pic>
        <p:nvPicPr>
          <p:cNvPr id="44" name="Picture 43" descr="Powerpoint On Mouse Click at Judith Tomlin blog">
            <a:extLst>
              <a:ext uri="{FF2B5EF4-FFF2-40B4-BE49-F238E27FC236}">
                <a16:creationId xmlns:a16="http://schemas.microsoft.com/office/drawing/2014/main" id="{5F4D4A62-1312-6C3D-89C7-9273136BD75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590" r="15915"/>
          <a:stretch>
            <a:fillRect/>
          </a:stretch>
        </p:blipFill>
        <p:spPr>
          <a:xfrm>
            <a:off x="23096776" y="30135691"/>
            <a:ext cx="2118977" cy="24056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D4F795A-1981-72A4-D0EE-02578DF2BF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79338" y="18566949"/>
            <a:ext cx="6523891" cy="1062238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3F6A271-440E-AE10-9B68-D23D53C46B0F}"/>
              </a:ext>
            </a:extLst>
          </p:cNvPr>
          <p:cNvSpPr txBox="1"/>
          <p:nvPr/>
        </p:nvSpPr>
        <p:spPr>
          <a:xfrm>
            <a:off x="35539680" y="5654841"/>
            <a:ext cx="751332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8 tip geometries + custom (.OBJ): </a:t>
            </a:r>
          </a:p>
          <a:p>
            <a:pPr lvl="1" algn="just"/>
            <a:r>
              <a:rPr lang="en-US" sz="2800" dirty="0"/>
              <a:t>sphere, cone, sphere-cone, hyperboloid, flat punch, asymmetric, double-tip, concave sphere + custom (.OBJ)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10 surface types + custom (.OBJ):</a:t>
            </a:r>
          </a:p>
          <a:p>
            <a:pPr lvl="1" algn="just"/>
            <a:r>
              <a:rPr lang="en-US" sz="2800" dirty="0"/>
              <a:t>sinusoidal, rolling hills, nanoparticle, nano-pit, trench, rough, pyramid, DNA ridges, chirp, lattice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Invert controls: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Mirror X/Y and invert Z controls for exploring surface orientation and sign conventions.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Erosion toggle: </a:t>
            </a:r>
            <a:r>
              <a:rPr lang="en-US" sz="2800" dirty="0"/>
              <a:t>switch from dilation to erosion to visualize the inverse operation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Noise injection: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add measurement noise to explore robustness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Export panel: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CSV, PNG, JSON, .OBJ with one click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7761A744-8886-2283-735E-7C6F2B3F6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9680" y="16740160"/>
            <a:ext cx="521012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References </a:t>
            </a:r>
          </a:p>
        </p:txBody>
      </p:sp>
      <p:sp>
        <p:nvSpPr>
          <p:cNvPr id="53" name="Line 39">
            <a:extLst>
              <a:ext uri="{FF2B5EF4-FFF2-40B4-BE49-F238E27FC236}">
                <a16:creationId xmlns:a16="http://schemas.microsoft.com/office/drawing/2014/main" id="{3E0D57F6-F176-218F-0CA7-C4EB164E6F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90600" y="17103580"/>
            <a:ext cx="4308234" cy="20205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08A913-8574-422F-B386-3AD2EA4C4AA5}"/>
              </a:ext>
            </a:extLst>
          </p:cNvPr>
          <p:cNvSpPr txBox="1"/>
          <p:nvPr/>
        </p:nvSpPr>
        <p:spPr>
          <a:xfrm>
            <a:off x="35539680" y="17555994"/>
            <a:ext cx="785915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hlinkClick r:id="rId10"/>
              </a:rPr>
              <a:t>1</a:t>
            </a:r>
            <a:r>
              <a:rPr lang="en-US" sz="2800" dirty="0"/>
              <a:t> J.S. Villarrubia, "Algorithms for Scanned Probe Microscope Image Simulation, Surface Reconstruction, and Tip Estimation," </a:t>
            </a:r>
            <a:r>
              <a:rPr lang="en-US" sz="2800" i="1" dirty="0"/>
              <a:t>J. Res. Natl. Inst. Stand. Technol.</a:t>
            </a:r>
            <a:r>
              <a:rPr lang="en-US" sz="2800" dirty="0"/>
              <a:t>, vol. 102, no. 4, pp. 425-454, 1997.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hlinkClick r:id="rId11"/>
              </a:rPr>
              <a:t>2</a:t>
            </a:r>
            <a:r>
              <a:rPr lang="en-US" sz="2800" dirty="0"/>
              <a:t> D. Necas and P. </a:t>
            </a:r>
            <a:r>
              <a:rPr lang="en-US" sz="2800" dirty="0" err="1"/>
              <a:t>Klapetek</a:t>
            </a:r>
            <a:r>
              <a:rPr lang="en-US" sz="2800" dirty="0"/>
              <a:t>, "</a:t>
            </a:r>
            <a:r>
              <a:rPr lang="en-US" sz="2800" dirty="0" err="1"/>
              <a:t>Gwyddion</a:t>
            </a:r>
            <a:r>
              <a:rPr lang="en-US" sz="2800" dirty="0"/>
              <a:t>: An open-source software for SPM data analysis," </a:t>
            </a:r>
            <a:r>
              <a:rPr lang="en-US" sz="2800" i="1" dirty="0"/>
              <a:t>Cent. Eur. J. Phys.</a:t>
            </a:r>
            <a:r>
              <a:rPr lang="en-US" sz="2800" dirty="0"/>
              <a:t>, vol. 10, no. 1, pp. 181-188, 2012.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hlinkClick r:id="rId12"/>
              </a:rPr>
              <a:t>3</a:t>
            </a:r>
            <a:r>
              <a:rPr lang="en-US" sz="2800" dirty="0"/>
              <a:t> P. </a:t>
            </a:r>
            <a:r>
              <a:rPr lang="en-US" sz="2800" dirty="0" err="1"/>
              <a:t>Hachenberger</a:t>
            </a:r>
            <a:r>
              <a:rPr lang="en-US" sz="2800" dirty="0"/>
              <a:t>, "3D Minkowski Sum of </a:t>
            </a:r>
            <a:r>
              <a:rPr lang="en-US" sz="2800" dirty="0" err="1"/>
              <a:t>Polyhedra</a:t>
            </a:r>
            <a:r>
              <a:rPr lang="en-US" sz="2800" dirty="0"/>
              <a:t>," in </a:t>
            </a:r>
            <a:r>
              <a:rPr lang="en-US" sz="2800" i="1" dirty="0"/>
              <a:t>CGAL User and Reference Manual</a:t>
            </a:r>
            <a:r>
              <a:rPr lang="en-US" sz="2800" dirty="0"/>
              <a:t>, CGAL Editorial Board, v6.2, 2024. </a:t>
            </a:r>
          </a:p>
        </p:txBody>
      </p:sp>
      <p:sp>
        <p:nvSpPr>
          <p:cNvPr id="66" name="Text Box 38">
            <a:extLst>
              <a:ext uri="{FF2B5EF4-FFF2-40B4-BE49-F238E27FC236}">
                <a16:creationId xmlns:a16="http://schemas.microsoft.com/office/drawing/2014/main" id="{128250BF-9106-AA50-3FBE-1492486B3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531" y="13468596"/>
            <a:ext cx="521012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defTabSz="4806950"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i="1" dirty="0"/>
              <a:t>Future Work </a:t>
            </a:r>
          </a:p>
        </p:txBody>
      </p:sp>
      <p:sp>
        <p:nvSpPr>
          <p:cNvPr id="68" name="Line 39">
            <a:extLst>
              <a:ext uri="{FF2B5EF4-FFF2-40B4-BE49-F238E27FC236}">
                <a16:creationId xmlns:a16="http://schemas.microsoft.com/office/drawing/2014/main" id="{4076DFFD-AB12-E539-A2BB-B7AD220FB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58451" y="13832016"/>
            <a:ext cx="4308234" cy="20205"/>
          </a:xfrm>
          <a:prstGeom prst="line">
            <a:avLst/>
          </a:prstGeom>
          <a:noFill/>
          <a:ln w="127000">
            <a:solidFill>
              <a:srgbClr val="B31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0D5CD9-F0F2-948B-C12E-ACB374FCBA92}"/>
              </a:ext>
            </a:extLst>
          </p:cNvPr>
          <p:cNvSpPr txBox="1"/>
          <p:nvPr/>
        </p:nvSpPr>
        <p:spPr>
          <a:xfrm>
            <a:off x="35607531" y="14284430"/>
            <a:ext cx="78591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Import real .</a:t>
            </a:r>
            <a:r>
              <a:rPr lang="en-US" sz="2800" dirty="0" err="1"/>
              <a:t>spm</a:t>
            </a:r>
            <a:r>
              <a:rPr lang="en-US" sz="2800" dirty="0"/>
              <a:t> height maps for validation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Generate labeled synthetic datasets in batch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Develop ML-based inverse reconstruction of surface and tip geometry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A655FFCFC5D34BA56EEB968B00E1C9" ma:contentTypeVersion="0" ma:contentTypeDescription="Create a new document." ma:contentTypeScope="" ma:versionID="737381bd0af75e346f74f96081b1cb99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5AEC254D-6CCC-42D7-AE81-F33B508F5D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AA75B6-A94A-4344-9D6C-3722F7B964F7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CD9F49F-62D6-4EDC-A091-797608BF5529}">
  <ds:schemaRefs>
    <ds:schemaRef ds:uri="http://purl.org/dc/elements/1.1/"/>
    <ds:schemaRef ds:uri="http://purl.org/dc/terms/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ternal/2005/internalDocumentation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623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ＭＳ Ｐゴシック</vt:lpstr>
      <vt:lpstr>Arial</vt:lpstr>
      <vt:lpstr>Calibri</vt:lpstr>
      <vt:lpstr>Times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Avish Cooray</cp:lastModifiedBy>
  <cp:revision>5</cp:revision>
  <dcterms:created xsi:type="dcterms:W3CDTF">2010-07-31T23:38:07Z</dcterms:created>
  <dcterms:modified xsi:type="dcterms:W3CDTF">2026-07-27T18:59:17Z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0x0101008CA655FFCFC5D34BA56EEB968B00E1C9</vt:lpwstr>
  </property>
</Properties>
</file>